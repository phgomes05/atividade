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5094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80" y="1852888"/>
            <a:ext cx="4965383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3200" b="1" dirty="0">
                <a:solidFill>
                  <a:schemeClr val="accent1">
                    <a:lumMod val="50000"/>
                  </a:schemeClr>
                </a:solidFill>
              </a:rPr>
              <a:t>SOFTWARE LEVE COMO ESTRATÉGIA DE INCLUSÃO DIGITAL E SUSTENTABILIDADE PARA ESTUDANTES DE BAIXA RENDA</a:t>
            </a:r>
            <a:endParaRPr lang="pt-BR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1600" b="1"/>
              <a:t>Professora:</a:t>
            </a:r>
            <a:r>
              <a:rPr lang="pt-BR" sz="1600"/>
              <a:t> Isabella Luiza dos Santos Souza</a:t>
            </a:r>
          </a:p>
          <a:p>
            <a:pPr>
              <a:spcBef>
                <a:spcPct val="50000"/>
              </a:spcBef>
            </a:pPr>
            <a:endParaRPr lang="pt-BR" altLang="pt-BR" sz="16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lvl="0"/>
            <a:r>
              <a:rPr lang="pt-BR" sz="1600" dirty="0"/>
              <a:t>Clara </a:t>
            </a:r>
            <a:r>
              <a:rPr lang="pt-BR" sz="1600" dirty="0" err="1"/>
              <a:t>Puerta</a:t>
            </a:r>
            <a:r>
              <a:rPr lang="pt-BR" sz="1600" dirty="0"/>
              <a:t> Lopes da Purificação</a:t>
            </a:r>
          </a:p>
          <a:p>
            <a:pPr lvl="0"/>
            <a:r>
              <a:rPr lang="pt-BR" sz="1600" dirty="0"/>
              <a:t>Pablo Henrique Silva Gomes</a:t>
            </a:r>
          </a:p>
          <a:p>
            <a:pPr lvl="0"/>
            <a:r>
              <a:rPr lang="pt-BR" sz="1600" dirty="0"/>
              <a:t>Ricardo Oliveira da Silva</a:t>
            </a:r>
          </a:p>
          <a:p>
            <a:pPr lvl="0"/>
            <a:r>
              <a:rPr lang="pt-BR" sz="1600" dirty="0"/>
              <a:t>Ricardo </a:t>
            </a:r>
            <a:r>
              <a:rPr lang="pt-BR" sz="1600" dirty="0" err="1"/>
              <a:t>Nalber</a:t>
            </a:r>
            <a:endParaRPr lang="pt-BR" sz="1600" dirty="0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NOME DO CURSO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782" y="4426882"/>
            <a:ext cx="3045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400" dirty="0">
                <a:solidFill>
                  <a:srgbClr val="FF0000"/>
                </a:solidFill>
              </a:rPr>
              <a:t>Software sustentável; inclusão digital; estudantes de baixa renda.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  <a:endParaRPr lang="pt-BR" altLang="pt-BR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2000" b="1" dirty="0">
                <a:latin typeface="Verdana" pitchFamily="34" charset="0"/>
                <a:ea typeface="Verdana" pitchFamily="34" charset="0"/>
              </a:rPr>
              <a:t>PROBLEMÁTICA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Dificuldade de estudantes de baixa renda para adquirir computadores novos.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Lentidão e incompatibilidade de equipamentos antigos com programas atuais.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Acesso à internet sem equipamentos adequados pode limitar a participação educacional.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Necessidade de alternativas tecnológicas acessíveis.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2000" b="1" dirty="0">
                <a:latin typeface="Verdana" pitchFamily="34" charset="0"/>
                <a:ea typeface="Verdana" pitchFamily="34" charset="0"/>
              </a:rPr>
              <a:t>JUSTIFICATIVA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inclusão digital depende do acesso à internet e de equipamentos funcionais.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Softwares leves podem permitir o uso de computadores antigos em atividades escolares.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extensão da vida útil dos dispositivos pode adiar o descarte eletrônico.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proposta relaciona inclusão digital, redução de custos e sustentabilidade.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2000" b="1" dirty="0">
                <a:latin typeface="Verdana" pitchFamily="34" charset="0"/>
                <a:ea typeface="Verdana" pitchFamily="34" charset="0"/>
              </a:rPr>
              <a:t>OBJETIVO GERAL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/>
              <a:t>Analisar como o uso de softwares leves pode contribuir para a inclusão digital e a sustentabilidade entre estudantes de baixa renda.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2000" b="1" dirty="0">
                <a:latin typeface="Verdana" pitchFamily="34" charset="0"/>
                <a:ea typeface="Verdana" pitchFamily="34" charset="0"/>
              </a:rPr>
              <a:t>OBJETIVOS ESPECÍFICOS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Discutir a sustentabilidade no desenvolvimento e na utilização de softwares.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/>
              <a:t>Relacionar o acesso a computadores e à internet às oportunidades educacionais.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Analisar a reutilização de equipamentos eletrônicos e a extensão de sua vida útil.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Identificar possibilidades e limitações do software leve como alternativa de baixo custo.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800" dirty="0"/>
              <a:t>Revisão bibliográfica de três artigos científicos publicados entre 2021 e 2025.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800" dirty="0"/>
              <a:t>Fontes: MDPI/Sustainability, SciELO/Educação em Revista e </a:t>
            </a:r>
            <a:r>
              <a:rPr lang="pt-BR" sz="1800" dirty="0" err="1"/>
              <a:t>ScienceDirect</a:t>
            </a:r>
            <a:r>
              <a:rPr lang="pt-BR" sz="1800" dirty="0"/>
              <a:t>/</a:t>
            </a:r>
            <a:r>
              <a:rPr lang="pt-BR" sz="1800" dirty="0" err="1"/>
              <a:t>Sustainable</a:t>
            </a:r>
            <a:r>
              <a:rPr lang="pt-BR" sz="1800" dirty="0"/>
              <a:t> </a:t>
            </a:r>
            <a:r>
              <a:rPr lang="pt-BR" sz="1800" dirty="0" err="1"/>
              <a:t>Production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/>
              <a:t>Consumption</a:t>
            </a:r>
            <a:r>
              <a:rPr lang="pt-BR" sz="1800" dirty="0"/>
              <a:t>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800" dirty="0"/>
              <a:t>Análise dos objetivos, métodos, resultados, limitações e contribuições dos estudos.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800" dirty="0"/>
              <a:t>Organização da revisão em três eixos: software sustentável, inclusão digital e reutilização de equipamentos.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622088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1" dirty="0"/>
              <a:t>SOFTWARE</a:t>
            </a:r>
            <a:r>
              <a:rPr lang="pt-BR" sz="1400" b="1" dirty="0"/>
              <a:t> </a:t>
            </a:r>
            <a:r>
              <a:rPr lang="pt-BR" sz="2000" b="1" dirty="0"/>
              <a:t>SUSTENTÁVEL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Sustentabilidade no desenvolvimento e na utilização de softwares.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Uso eficiente de recursos computacionais.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Pesquisador: </a:t>
            </a:r>
            <a:r>
              <a:rPr lang="pt-BR" sz="1400" dirty="0" err="1"/>
              <a:t>Jakub</a:t>
            </a:r>
            <a:r>
              <a:rPr lang="pt-BR" sz="1400" dirty="0"/>
              <a:t> </a:t>
            </a:r>
            <a:r>
              <a:rPr lang="pt-BR" sz="1400" dirty="0" err="1"/>
              <a:t>Swacha</a:t>
            </a:r>
            <a:r>
              <a:rPr lang="pt-BR" sz="1400" dirty="0"/>
              <a:t> (2022).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1" dirty="0"/>
              <a:t>INCLUSÃO DIGITAL E EDUCAÇÃO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Relação entre acesso à internet, computador e desempenho educacional.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Importância dos equipamentos para a participação nas atividades escolares.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Pesquisadores: Rubim, Mantovani e </a:t>
            </a:r>
            <a:r>
              <a:rPr lang="pt-BR" sz="1400" dirty="0" err="1"/>
              <a:t>Alavarse</a:t>
            </a:r>
            <a:r>
              <a:rPr lang="pt-BR" sz="1400" dirty="0"/>
              <a:t> (2025).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b="1" dirty="0"/>
              <a:t>REUTILIZAÇÃO DE EQUIPAMENTOS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Reutilização de equipamentos eletrônicos e economia circular.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Avaliação dos impactos ambientais e do ciclo de vida dos dispositivos.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Pesquisadores: Pérez-Martínez et al. (2021).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30" y="1622088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1" dirty="0"/>
              <a:t>CONVERGÊNCIAS ENTRE OS ESTUDOS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sustentabilidade tecnológica envolve o uso eficiente dos recursos.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O acesso a computadores e à internet está relacionado às oportunidades educacionais.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reutilização pode contribuir para o aproveitamento dos equipamentos eletrônicos.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1" dirty="0"/>
              <a:t>LACUNA IDENTIFICADA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Os estudos analisados abordam os temas principalmente de forma separada.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Não investigam diretamente o software leve como estratégia integrada de inclusão digital para estudantes de baixa renda.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É necessário avaliar o desempenho de softwares leves em computadores antigos.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1" dirty="0"/>
              <a:t>RELAÇÃO COM A PESQUISA</a:t>
            </a:r>
            <a:endParaRPr lang="pt-BR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Softwares menos exigentes podem ajudar a manter computadores antigos úteis para atividades escolares.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Essa possibilidade deve considerar as necessidades dos estudantes e as limitações dos equipamentos.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O software leve representa uma alternativa potencial para aproveitar computadores antigos.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inclusão digital depende do acesso à internet e de equipamentos adequados.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Prolongar a vida útil dos computadores pode adiar o descarte eletrônico.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Os benefícios dependem das características dos equipamentos, dos programas e das atividades realizadas.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A pesquisa apresenta como limitação a análise de apenas três artigos, sem testes práticos ou entrevistas.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pt-BR" sz="1400" dirty="0"/>
              <a:t>Estudos futuros podem comparar sistemas e programas em computadores antigos, considerando desempenho, consumo de energia, manutenção e facilidade de uso.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ü"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/>
              <a:t>SWACHA, </a:t>
            </a:r>
            <a:r>
              <a:rPr lang="pt-BR" sz="1400" dirty="0" err="1"/>
              <a:t>Jakub</a:t>
            </a:r>
            <a:r>
              <a:rPr lang="pt-BR" sz="1400" dirty="0"/>
              <a:t>. Models </a:t>
            </a:r>
            <a:r>
              <a:rPr lang="pt-BR" sz="1400" dirty="0" err="1"/>
              <a:t>of</a:t>
            </a:r>
            <a:r>
              <a:rPr lang="pt-BR" sz="1400" dirty="0"/>
              <a:t> </a:t>
            </a:r>
            <a:r>
              <a:rPr lang="pt-BR" sz="1400" dirty="0" err="1"/>
              <a:t>Sustainable</a:t>
            </a:r>
            <a:r>
              <a:rPr lang="pt-BR" sz="1400" dirty="0"/>
              <a:t> Software: A </a:t>
            </a:r>
            <a:r>
              <a:rPr lang="pt-BR" sz="1400" dirty="0" err="1"/>
              <a:t>Scoping</a:t>
            </a:r>
            <a:r>
              <a:rPr lang="pt-BR" sz="1400" dirty="0"/>
              <a:t> Review. </a:t>
            </a:r>
            <a:r>
              <a:rPr lang="pt-BR" sz="1400" i="1" dirty="0"/>
              <a:t>Sustainability</a:t>
            </a:r>
            <a:r>
              <a:rPr lang="pt-BR" sz="1400" dirty="0"/>
              <a:t>, v. 14, n. 1, art. 551, 2022.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/>
              <a:t>RUBIM, Jordana Aparecida de Oliveira; MANTOVANI, </a:t>
            </a:r>
            <a:r>
              <a:rPr lang="pt-BR" sz="1400" dirty="0" err="1"/>
              <a:t>Daielly</a:t>
            </a:r>
            <a:r>
              <a:rPr lang="pt-BR" sz="1400" dirty="0"/>
              <a:t>; ALAVARSE, Ocimar Munhoz. Exclusão digital e seus impactos sobre a proficiência no ENEM: um estudo com concluintes do ensino médio de baixa renda entre 2015 e 2023. </a:t>
            </a:r>
            <a:r>
              <a:rPr lang="pt-BR" sz="1400" i="1" dirty="0"/>
              <a:t>Educação em Revista</a:t>
            </a:r>
            <a:r>
              <a:rPr lang="pt-BR" sz="1400" dirty="0"/>
              <a:t>, v. 41, 2025.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/>
              <a:t>PÉREZ-MARTÍNEZ, M. M.; CARRILLO, C.; RODEIRO-IGLESIAS, J.; SOTO, B. Life </a:t>
            </a:r>
            <a:r>
              <a:rPr lang="pt-BR" sz="1400" dirty="0" err="1"/>
              <a:t>cycle</a:t>
            </a:r>
            <a:r>
              <a:rPr lang="pt-BR" sz="1400" dirty="0"/>
              <a:t> assessment </a:t>
            </a:r>
            <a:r>
              <a:rPr lang="pt-BR" sz="1400" dirty="0" err="1"/>
              <a:t>of</a:t>
            </a:r>
            <a:r>
              <a:rPr lang="pt-BR" sz="1400" dirty="0"/>
              <a:t> </a:t>
            </a:r>
            <a:r>
              <a:rPr lang="pt-BR" sz="1400" dirty="0" err="1"/>
              <a:t>repurposed</a:t>
            </a:r>
            <a:r>
              <a:rPr lang="pt-BR" sz="1400" dirty="0"/>
              <a:t> </a:t>
            </a:r>
            <a:r>
              <a:rPr lang="pt-BR" sz="1400" dirty="0" err="1"/>
              <a:t>waste</a:t>
            </a:r>
            <a:r>
              <a:rPr lang="pt-BR" sz="1400" dirty="0"/>
              <a:t> </a:t>
            </a:r>
            <a:r>
              <a:rPr lang="pt-BR" sz="1400" dirty="0" err="1"/>
              <a:t>electric</a:t>
            </a:r>
            <a:r>
              <a:rPr lang="pt-BR" sz="1400" dirty="0"/>
              <a:t> </a:t>
            </a:r>
            <a:r>
              <a:rPr lang="pt-BR" sz="1400" dirty="0" err="1"/>
              <a:t>and</a:t>
            </a:r>
            <a:r>
              <a:rPr lang="pt-BR" sz="1400" dirty="0"/>
              <a:t> </a:t>
            </a:r>
            <a:r>
              <a:rPr lang="pt-BR" sz="1400" dirty="0" err="1"/>
              <a:t>electronic</a:t>
            </a:r>
            <a:r>
              <a:rPr lang="pt-BR" sz="1400" dirty="0"/>
              <a:t> </a:t>
            </a:r>
            <a:r>
              <a:rPr lang="pt-BR" sz="1400" dirty="0" err="1"/>
              <a:t>equipment</a:t>
            </a:r>
            <a:r>
              <a:rPr lang="pt-BR" sz="1400" dirty="0"/>
              <a:t> in </a:t>
            </a:r>
            <a:r>
              <a:rPr lang="pt-BR" sz="1400" dirty="0" err="1"/>
              <a:t>comparison</a:t>
            </a:r>
            <a:r>
              <a:rPr lang="pt-BR" sz="1400" dirty="0"/>
              <a:t> </a:t>
            </a:r>
            <a:r>
              <a:rPr lang="pt-BR" sz="1400" dirty="0" err="1"/>
              <a:t>with</a:t>
            </a:r>
            <a:r>
              <a:rPr lang="pt-BR" sz="1400" dirty="0"/>
              <a:t> original </a:t>
            </a:r>
            <a:r>
              <a:rPr lang="pt-BR" sz="1400" dirty="0" err="1"/>
              <a:t>equipment</a:t>
            </a:r>
            <a:r>
              <a:rPr lang="pt-BR" sz="1400" dirty="0"/>
              <a:t>. </a:t>
            </a:r>
            <a:r>
              <a:rPr lang="pt-BR" sz="1400" i="1" dirty="0" err="1"/>
              <a:t>Sustainable</a:t>
            </a:r>
            <a:r>
              <a:rPr lang="pt-BR" sz="1400" i="1" dirty="0"/>
              <a:t> </a:t>
            </a:r>
            <a:r>
              <a:rPr lang="pt-BR" sz="1400" i="1" dirty="0" err="1"/>
              <a:t>Production</a:t>
            </a:r>
            <a:r>
              <a:rPr lang="pt-BR" sz="1400" i="1" dirty="0"/>
              <a:t> </a:t>
            </a:r>
            <a:r>
              <a:rPr lang="pt-BR" sz="1400" i="1" dirty="0" err="1"/>
              <a:t>and</a:t>
            </a:r>
            <a:r>
              <a:rPr lang="pt-BR" sz="1400" i="1" dirty="0"/>
              <a:t> </a:t>
            </a:r>
            <a:r>
              <a:rPr lang="pt-BR" sz="1400" i="1" dirty="0" err="1"/>
              <a:t>Consumption</a:t>
            </a:r>
            <a:r>
              <a:rPr lang="pt-BR" sz="1400" dirty="0"/>
              <a:t>, v. 27, p. 1637–1649, 2021.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360" y="2471738"/>
            <a:ext cx="820928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3200" dirty="0">
                <a:solidFill>
                  <a:schemeClr val="bg1"/>
                </a:solidFill>
              </a:rPr>
              <a:t>Agradecemos à professora Isabella Luiza dos Santos Souza pela orientação e aos integrantes do grupo pela colaboração no desenvolvimento desta pesquisa.</a:t>
            </a:r>
          </a:p>
          <a:p>
            <a:endParaRPr lang="pt-BR" sz="3200" dirty="0">
              <a:solidFill>
                <a:schemeClr val="bg1"/>
              </a:solidFill>
            </a:endParaRPr>
          </a:p>
          <a:p>
            <a:r>
              <a:rPr lang="pt-BR" sz="3200" dirty="0">
                <a:solidFill>
                  <a:schemeClr val="bg1"/>
                </a:solidFill>
              </a:rPr>
              <a:t>Obrigado!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748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PABLO</cp:lastModifiedBy>
  <cp:revision>22</cp:revision>
  <dcterms:created xsi:type="dcterms:W3CDTF">2021-05-14T17:32:15Z</dcterms:created>
  <dcterms:modified xsi:type="dcterms:W3CDTF">2026-10-15T22:20:32Z</dcterms:modified>
</cp:coreProperties>
</file>